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8" r:id="rId4"/>
  </p:sldMasterIdLst>
  <p:sldIdLst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1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95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3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10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00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66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31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39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9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840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5890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40225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08922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12079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7388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64350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67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" y="0"/>
            <a:ext cx="1219135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5097" y="1484852"/>
            <a:ext cx="5004619" cy="2130804"/>
          </a:xfrm>
        </p:spPr>
        <p:txBody>
          <a:bodyPr>
            <a:noAutofit/>
          </a:bodyPr>
          <a:lstStyle/>
          <a:p>
            <a:pPr algn="l"/>
            <a:r>
              <a:rPr lang="en-US" sz="2800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Digital India: A Data-Driven Analysis of Internet and Smartphone Growth (2015–2025)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IN" b="1" cap="none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Chandana D.R</a:t>
            </a:r>
          </a:p>
          <a:p>
            <a:pPr algn="l"/>
            <a:r>
              <a:rPr lang="en-IN" b="1" cap="none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  <a:reflection blurRad="6350" stA="55000" endA="300" endPos="45500" dir="5400000" sy="-100000" algn="bl" rotWithShape="0"/>
                </a:effectLst>
              </a:rPr>
              <a:t>Tools: Excel &amp; Power BI</a:t>
            </a:r>
          </a:p>
          <a:p>
            <a:pPr algn="l"/>
            <a:endParaRPr lang="en-US" sz="23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8A650-9E9D-C12D-7214-6AED810D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Introduction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137BB-F861-BEDA-45BD-F811DA75C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900134"/>
          </a:xfrm>
        </p:spPr>
        <p:txBody>
          <a:bodyPr/>
          <a:lstStyle/>
          <a:p>
            <a:r>
              <a:rPr lang="en-US" i="1" dirty="0"/>
              <a:t>Digital India aims to transform India into a digitally empowered society</a:t>
            </a:r>
          </a:p>
          <a:p>
            <a:r>
              <a:rPr lang="en-US" i="1" dirty="0"/>
              <a:t>Project analyzes the growth of Internet &amp; Smartphone usage (2015–2025)</a:t>
            </a:r>
          </a:p>
          <a:p>
            <a:r>
              <a:rPr lang="en-US" i="1" dirty="0"/>
              <a:t>Highlights national, state, rural &amp; urban digital adoption</a:t>
            </a:r>
          </a:p>
          <a:p>
            <a:r>
              <a:rPr lang="en-US" i="1" dirty="0"/>
              <a:t>Shows how technology is shaping India’s development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234359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7D30-A5F7-8B72-8039-2A87737D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E3F46-2A80-C72E-1FEB-C4BBDF6CF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Data-driven study of India’s digital growth (2015–2025)</a:t>
            </a:r>
          </a:p>
          <a:p>
            <a:r>
              <a:rPr lang="en-IN" i="1" dirty="0"/>
              <a:t>Focus on Internet &amp; Smartphone adoption trends</a:t>
            </a:r>
          </a:p>
          <a:p>
            <a:r>
              <a:rPr lang="en-US" i="1" dirty="0"/>
              <a:t>Uses Power BI &amp; Excel for analytics and visualization</a:t>
            </a:r>
          </a:p>
          <a:p>
            <a:r>
              <a:rPr lang="en-US" i="1" dirty="0"/>
              <a:t>State-wise &amp; year-wise comparison of digital penetration</a:t>
            </a:r>
          </a:p>
          <a:p>
            <a:r>
              <a:rPr lang="en-US" i="1" dirty="0"/>
              <a:t>Identifies key patterns, growth factors, and insights</a:t>
            </a:r>
          </a:p>
          <a:p>
            <a:r>
              <a:rPr lang="en-US" i="1" dirty="0"/>
              <a:t>Helps understand India’s progress toward a digitally empowered society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41054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355ED-A6E1-7374-897D-C3451CCE9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EFF06-0244-9421-064F-34F317E0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Measure state-wise internet &amp; smartphone penetration.</a:t>
            </a:r>
          </a:p>
          <a:p>
            <a:r>
              <a:rPr lang="en-IN" i="1" dirty="0"/>
              <a:t> </a:t>
            </a:r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Analyze India’s digital growth from 2015–2025 </a:t>
            </a:r>
          </a:p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Understand year-wise growth trends and patterns</a:t>
            </a:r>
          </a:p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Identify top and bottom performing states</a:t>
            </a:r>
          </a:p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Explore factors influencing digital adoption</a:t>
            </a:r>
          </a:p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Provide insights to support Digital India initiatives</a:t>
            </a:r>
          </a:p>
          <a:p>
            <a:r>
              <a:rPr lang="en-US" altLang="en-US" i="1" dirty="0">
                <a:solidFill>
                  <a:schemeClr val="tx1"/>
                </a:solidFill>
                <a:latin typeface="Arial" panose="020B0604020202020204" pitchFamily="34" charset="0"/>
              </a:rPr>
              <a:t>Build interactive dashboards using Power BI</a:t>
            </a:r>
          </a:p>
          <a:p>
            <a:pPr marL="0" indent="0">
              <a:buNone/>
            </a:pPr>
            <a:endParaRPr lang="en-US" altLang="en-US" i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61553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6178B-0C21-9066-2AD3-6AB9DA15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010D5-7A1C-45F1-F8B4-5A436FA57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Dataset: India State-wise Digital Growth (2015–2025)</a:t>
            </a:r>
          </a:p>
          <a:p>
            <a:r>
              <a:rPr lang="en-US" i="1" dirty="0"/>
              <a:t>Total years covered: </a:t>
            </a:r>
            <a:r>
              <a:rPr lang="en-US" b="1" i="1" dirty="0"/>
              <a:t>11 years</a:t>
            </a:r>
          </a:p>
          <a:p>
            <a:r>
              <a:rPr lang="en-IN" i="1" dirty="0"/>
              <a:t>Key fields:  </a:t>
            </a:r>
            <a:r>
              <a:rPr lang="en-US" i="1" dirty="0"/>
              <a:t>Year, State, Internet Users (Millions), Smartphone Users (Millions), Population, Internet Penetration (%), Smartphone Penetration (%), Growth rate(%)</a:t>
            </a:r>
            <a:endParaRPr lang="en-IN" i="1" dirty="0"/>
          </a:p>
          <a:p>
            <a:r>
              <a:rPr lang="en-US" i="1" dirty="0"/>
              <a:t>Type of data: Structured, numeric, state-wise panel data</a:t>
            </a:r>
          </a:p>
          <a:p>
            <a:r>
              <a:rPr lang="en-US" i="1" dirty="0"/>
              <a:t>Used for: Trend analysis, comparison, forecasting</a:t>
            </a:r>
          </a:p>
          <a:p>
            <a:r>
              <a:rPr lang="en-IN" i="1" dirty="0"/>
              <a:t>Source: Public digital reports, telecom surveys, statistical projections</a:t>
            </a:r>
            <a:endParaRPr lang="en-US" b="1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5679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4024A-1156-9DAD-6011-62D2F89CA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Data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E9804-D67A-5CCA-645A-94260E25B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Single table data model</a:t>
            </a:r>
          </a:p>
          <a:p>
            <a:r>
              <a:rPr lang="en-US" i="1" dirty="0"/>
              <a:t>Columns: Year, State, Population, Internet Users, Smartphone Users, etc.</a:t>
            </a:r>
          </a:p>
          <a:p>
            <a:r>
              <a:rPr lang="en-US" i="1" dirty="0"/>
              <a:t>Calculated fields for penetration rates</a:t>
            </a:r>
          </a:p>
          <a:p>
            <a:r>
              <a:rPr lang="en-US" i="1" dirty="0"/>
              <a:t>Simple star-like structure (no relationships needed)</a:t>
            </a:r>
          </a:p>
          <a:p>
            <a:r>
              <a:rPr lang="en-US" i="1" dirty="0"/>
              <a:t>Easy to use for time-series &amp; state-wise analysis</a:t>
            </a:r>
          </a:p>
          <a:p>
            <a:r>
              <a:rPr lang="en-US" i="1" dirty="0"/>
              <a:t>Supports all visuals in the dashboard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547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E227A-3130-ECC1-257A-4C18EF00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Dashboard Visuals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66C6-06C6-4570-A5F5-4B2C795D9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Interactive Power BI dashboard</a:t>
            </a:r>
          </a:p>
          <a:p>
            <a:r>
              <a:rPr lang="en-IN" i="1" dirty="0"/>
              <a:t>Key visuals included: </a:t>
            </a:r>
            <a:r>
              <a:rPr lang="en-US" i="1" dirty="0"/>
              <a:t>Year-wise line chart (Internet &amp; Smartphone users)</a:t>
            </a:r>
          </a:p>
          <a:p>
            <a:pPr marL="0" indent="0">
              <a:buNone/>
            </a:pPr>
            <a:r>
              <a:rPr lang="en-US" i="1" dirty="0"/>
              <a:t>                                     State-wise bar chart</a:t>
            </a:r>
          </a:p>
          <a:p>
            <a:pPr marL="0" indent="0">
              <a:buNone/>
            </a:pPr>
            <a:r>
              <a:rPr lang="en-US" i="1" dirty="0"/>
              <a:t>                                     Penetration % comparison</a:t>
            </a:r>
          </a:p>
          <a:p>
            <a:pPr marL="0" indent="0">
              <a:buNone/>
            </a:pPr>
            <a:r>
              <a:rPr lang="en-US" i="1" dirty="0"/>
              <a:t>                                     Map visual for regional insights</a:t>
            </a:r>
          </a:p>
          <a:p>
            <a:pPr marL="0" indent="0">
              <a:buNone/>
            </a:pPr>
            <a:r>
              <a:rPr lang="en-US" i="1" dirty="0"/>
              <a:t>                                     KPI cards (Total users &amp; growth)</a:t>
            </a:r>
          </a:p>
          <a:p>
            <a:r>
              <a:rPr lang="en-IN" i="1" dirty="0"/>
              <a:t>Filters/Slicers: Year, State</a:t>
            </a:r>
          </a:p>
          <a:p>
            <a:r>
              <a:rPr lang="en-US" i="1" dirty="0"/>
              <a:t>Designed for easy interpretation and quick insights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2556858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74F89E8-43A7-78AC-BB25-28221C2A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648930"/>
            <a:ext cx="8957187" cy="551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17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8F8837-00EA-D40C-C2DA-93ED29C72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8" y="511278"/>
            <a:ext cx="8613058" cy="56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72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279619-F70C-FB7C-1FE8-278E0987B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550607"/>
            <a:ext cx="8524568" cy="5210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8740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69BE6-C890-9A3A-5B7F-AE4FE800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Key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A163D-EEDB-D599-4CBF-7EA1BAA56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Total Internet Users (2015–2025)</a:t>
            </a:r>
          </a:p>
          <a:p>
            <a:r>
              <a:rPr lang="en-IN" i="1" dirty="0"/>
              <a:t>Total Smartphone Users (2015–2025)</a:t>
            </a:r>
          </a:p>
          <a:p>
            <a:r>
              <a:rPr lang="en-IN" i="1" dirty="0"/>
              <a:t>Internet Penetration Rate (%)</a:t>
            </a:r>
          </a:p>
          <a:p>
            <a:r>
              <a:rPr lang="en-IN" i="1" dirty="0"/>
              <a:t>Smartphone Penetration Rate (%)</a:t>
            </a:r>
          </a:p>
          <a:p>
            <a:r>
              <a:rPr lang="en-IN" i="1" dirty="0"/>
              <a:t>Year-over-Year (YoY) Growth</a:t>
            </a:r>
          </a:p>
          <a:p>
            <a:r>
              <a:rPr lang="en-IN" i="1" dirty="0"/>
              <a:t>State Growth Ranking</a:t>
            </a:r>
          </a:p>
          <a:p>
            <a:r>
              <a:rPr lang="en-US" i="1" dirty="0"/>
              <a:t>Digital Adoption Gap (Top vs Bottom States)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14620955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75B9A-9EE7-C2F1-49E5-AE1371C0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92AD4-5E68-6140-BE2E-A643EAFF2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Steady rise in internet &amp; smartphone users (2015–2025)</a:t>
            </a:r>
          </a:p>
          <a:p>
            <a:r>
              <a:rPr lang="en-IN" i="1" dirty="0"/>
              <a:t>Southern &amp; Western states lead digital penetration</a:t>
            </a:r>
          </a:p>
          <a:p>
            <a:r>
              <a:rPr lang="en-US" i="1" dirty="0"/>
              <a:t>Northeastern &amp; some central states show slower adoption</a:t>
            </a:r>
          </a:p>
          <a:p>
            <a:r>
              <a:rPr lang="en-US" i="1" dirty="0"/>
              <a:t>Major growth after 2018 due to cheaper mobile data</a:t>
            </a:r>
          </a:p>
          <a:p>
            <a:r>
              <a:rPr lang="en-US" i="1" dirty="0"/>
              <a:t>Increasing digital gap between top &amp; bottom states</a:t>
            </a:r>
          </a:p>
          <a:p>
            <a:r>
              <a:rPr lang="en-US" i="1" dirty="0"/>
              <a:t>Clear shift toward mobile-first digital access</a:t>
            </a:r>
          </a:p>
          <a:p>
            <a:r>
              <a:rPr lang="en-US" i="1" dirty="0"/>
              <a:t>Smartphone adoption growing faster than internet usage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8673156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28074-DCF4-D859-24E3-EAEEC821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45E47-A7B5-4428-3A00-2A3080A18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India is rapidly becoming a digitally connected nation</a:t>
            </a:r>
          </a:p>
          <a:p>
            <a:r>
              <a:rPr lang="en-US" dirty="0"/>
              <a:t>Strong growth in both smartphone and internet penetration</a:t>
            </a:r>
          </a:p>
          <a:p>
            <a:r>
              <a:rPr lang="en-IN" dirty="0"/>
              <a:t>Regional digital divide still exists</a:t>
            </a:r>
          </a:p>
          <a:p>
            <a:r>
              <a:rPr lang="en-IN" dirty="0"/>
              <a:t>Digital India initiatives driving adoption</a:t>
            </a:r>
          </a:p>
          <a:p>
            <a:r>
              <a:rPr lang="en-US" dirty="0"/>
              <a:t>Future potential for even higher connectivity</a:t>
            </a:r>
          </a:p>
          <a:p>
            <a:r>
              <a:rPr lang="en-US" dirty="0"/>
              <a:t>Data insights help support policy &amp; business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622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2D2D-0C00-3BE8-2C5C-B5E48371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effectLst>
                  <a:reflection blurRad="6350" stA="55000" endA="300" endPos="45500" dir="5400000" sy="-100000" algn="bl" rotWithShape="0"/>
                </a:effectLst>
                <a:latin typeface="Algerian" panose="04020705040A02060702" pitchFamily="82" charset="0"/>
              </a:rPr>
              <a:t>Future Scope</a:t>
            </a:r>
            <a:endParaRPr lang="en-IN" i="1" dirty="0">
              <a:effectLst>
                <a:reflection blurRad="6350" stA="55000" endA="300" endPos="45500" dir="5400000" sy="-10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BBAC5-3EC3-FA7D-39F2-1BB0E1929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more datasets like income, education, network coverage</a:t>
            </a:r>
          </a:p>
          <a:p>
            <a:r>
              <a:rPr lang="en-US" dirty="0"/>
              <a:t>Use forecasting models to predict future digital growth</a:t>
            </a:r>
          </a:p>
          <a:p>
            <a:r>
              <a:rPr lang="en-US" dirty="0"/>
              <a:t>Expand dashboards with AI-based insights</a:t>
            </a:r>
          </a:p>
          <a:p>
            <a:r>
              <a:rPr lang="en-IN" dirty="0"/>
              <a:t>Compare rural vs urban digital adoption</a:t>
            </a:r>
          </a:p>
          <a:p>
            <a:r>
              <a:rPr lang="en-US" dirty="0"/>
              <a:t>Study impact of 5G rollout</a:t>
            </a:r>
          </a:p>
          <a:p>
            <a:r>
              <a:rPr lang="en-US" dirty="0"/>
              <a:t>Create more detailed state profiles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3005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95</TotalTime>
  <Words>521</Words>
  <Application>Microsoft Office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Trebuchet MS</vt:lpstr>
      <vt:lpstr>Wingdings 3</vt:lpstr>
      <vt:lpstr>Facet</vt:lpstr>
      <vt:lpstr>Digital India: A Data-Driven Analysis of Internet and Smartphone Growth (2015–2025)</vt:lpstr>
      <vt:lpstr>Introduction </vt:lpstr>
      <vt:lpstr>Project Overview</vt:lpstr>
      <vt:lpstr>Objectives</vt:lpstr>
      <vt:lpstr>Data Description</vt:lpstr>
      <vt:lpstr>Data Model</vt:lpstr>
      <vt:lpstr>Dashboard Visuals Overview</vt:lpstr>
      <vt:lpstr>PowerPoint Presentation</vt:lpstr>
      <vt:lpstr>PowerPoint Presentation</vt:lpstr>
      <vt:lpstr>PowerPoint Presentation</vt:lpstr>
      <vt:lpstr>Key Metrics</vt:lpstr>
      <vt:lpstr>Insights</vt:lpstr>
      <vt:lpstr>Conclusion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D R</dc:creator>
  <cp:lastModifiedBy>Chandana D R</cp:lastModifiedBy>
  <cp:revision>1</cp:revision>
  <dcterms:created xsi:type="dcterms:W3CDTF">2025-11-21T08:31:40Z</dcterms:created>
  <dcterms:modified xsi:type="dcterms:W3CDTF">2025-11-21T10:06:58Z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